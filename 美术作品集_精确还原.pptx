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2743200" cy="25603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1371600" y="320040"/>
            <a:ext cx="2286000" cy="192024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900000">
            <a:off x="457200" y="457200"/>
            <a:ext cx="1645920" cy="146304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0">
            <a:off x="1280160" y="640080"/>
            <a:ext cx="1371600" cy="109728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0800000">
            <a:off x="8229600" y="4114800"/>
            <a:ext cx="2468880" cy="219456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1700000">
            <a:off x="9464040" y="4389120"/>
            <a:ext cx="2057400" cy="16459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>
                <a:solidFill>
                  <a:srgbClr val="46464B"/>
                </a:solidFill>
                <a:latin typeface="STSong"/>
              </a:defRPr>
            </a:pPr>
            <a:r>
              <a:t>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86000"/>
            <a:ext cx="5486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C877D"/>
                </a:solidFill>
                <a:latin typeface="STSong"/>
              </a:defRPr>
            </a:pPr>
            <a:r>
              <a:t>作</a:t>
            </a:r>
            <a:br/>
            <a:r>
              <a:t>品</a:t>
            </a:r>
            <a:br/>
            <a:r>
              <a:t>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5486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C877D"/>
                </a:solidFill>
                <a:latin typeface="STSong"/>
              </a:defRPr>
            </a:pPr>
            <a:r>
              <a:t>美</a:t>
            </a:r>
            <a:br/>
            <a:r>
              <a:t>术</a:t>
            </a:r>
            <a:br/>
            <a:r>
              <a:t>设</a:t>
            </a:r>
            <a:br/>
            <a:r>
              <a:t>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5669280"/>
            <a:ext cx="5029200" cy="0"/>
          </a:xfrm>
          <a:prstGeom prst="line">
            <a:avLst/>
          </a:prstGeom>
          <a:ln w="9525">
            <a:solidFill>
              <a:srgbClr val="BEA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0" y="5852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59173"/>
                </a:solidFill>
                <a:latin typeface="Microsoft YaHei"/>
              </a:defRPr>
            </a:pPr>
            <a:r>
              <a:t>小天狼星 · 游戏策划 · PORTFOLIO 2024-2025</a:t>
            </a:r>
          </a:p>
        </p:txBody>
      </p:sp>
      <p:sp>
        <p:nvSpPr>
          <p:cNvPr id="14" name="Hexagon 13"/>
          <p:cNvSpPr/>
          <p:nvPr/>
        </p:nvSpPr>
        <p:spPr>
          <a:xfrm>
            <a:off x="10058400" y="457200"/>
            <a:ext cx="914400" cy="795528"/>
          </a:xfrm>
          <a:prstGeom prst="hexagon">
            <a:avLst/>
          </a:prstGeom>
          <a:solidFill>
            <a:srgbClr val="879B8C"/>
          </a:solidFill>
          <a:ln w="1905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10789920" y="731520"/>
            <a:ext cx="731520" cy="636422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10058400" y="1005840"/>
            <a:ext cx="914400" cy="795528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274320"/>
            <a:ext cx="731520" cy="731520"/>
          </a:xfrm>
          <a:prstGeom prst="roundRect">
            <a:avLst/>
          </a:prstGeom>
          <a:solidFill>
            <a:srgbClr val="AF8278"/>
          </a:solidFill>
          <a:ln w="25400">
            <a:solidFill>
              <a:srgbClr val="AF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F8278"/>
                </a:solidFill>
                <a:latin typeface="STSong"/>
              </a:defRPr>
            </a:pPr>
            <a:r>
              <a:t>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731520"/>
            <a:ext cx="5486400" cy="402336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4114800" y="1234440"/>
            <a:ext cx="4572000" cy="30175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600000">
            <a:off x="1828800" y="1097280"/>
            <a:ext cx="4389120" cy="329184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500000">
            <a:off x="4023360" y="1508760"/>
            <a:ext cx="3657600" cy="246888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>
                <a:solidFill>
                  <a:srgbClr val="FAF8F4"/>
                </a:solidFill>
                <a:latin typeface="STSong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46464B"/>
                </a:solidFill>
                <a:latin typeface="STSong"/>
              </a:defRPr>
            </a:pPr>
            <a:r>
              <a:t>角色设计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59173"/>
                </a:solidFill>
                <a:latin typeface="Microsoft YaHei"/>
              </a:defRPr>
            </a:pPr>
            <a:r>
              <a:t>CHAPTER</a:t>
            </a:r>
          </a:p>
        </p:txBody>
      </p:sp>
      <p:sp>
        <p:nvSpPr>
          <p:cNvPr id="10" name="Hexagon 9"/>
          <p:cNvSpPr/>
          <p:nvPr/>
        </p:nvSpPr>
        <p:spPr>
          <a:xfrm>
            <a:off x="731520" y="548640"/>
            <a:ext cx="822960" cy="715975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789920" y="5669280"/>
            <a:ext cx="822960" cy="715975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2194560" cy="182880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1097280" y="228600"/>
            <a:ext cx="1828800" cy="137160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875520" y="548640"/>
            <a:ext cx="1005840" cy="875080"/>
          </a:xfrm>
          <a:prstGeom prst="hexagon">
            <a:avLst/>
          </a:prstGeom>
          <a:solidFill>
            <a:srgbClr val="879B8C"/>
          </a:solidFill>
          <a:ln w="1905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698480" y="914400"/>
            <a:ext cx="822960" cy="715975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875520" y="1280160"/>
            <a:ext cx="1005840" cy="875080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515600" y="1645920"/>
            <a:ext cx="731520" cy="636422"/>
          </a:xfrm>
          <a:prstGeom prst="hexagon">
            <a:avLst/>
          </a:prstGeom>
          <a:solidFill>
            <a:srgbClr val="7D91A0"/>
          </a:solidFill>
          <a:ln w="19050">
            <a:solidFill>
              <a:srgbClr val="7D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36576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>
                <a:solidFill>
                  <a:srgbClr val="46464B"/>
                </a:solidFill>
                <a:latin typeface="STSong"/>
              </a:defRPr>
            </a:pPr>
            <a:r>
              <a:t>角色名称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AF8278"/>
                </a:solidFill>
                <a:latin typeface="Microsoft YaHei"/>
              </a:defRPr>
            </a:pPr>
            <a:r>
              <a:t>龙门无宵坊 · 主角设定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1920240"/>
            <a:ext cx="4297680" cy="0"/>
          </a:xfrm>
          <a:prstGeom prst="line">
            <a:avLst/>
          </a:prstGeom>
          <a:ln w="9525">
            <a:solidFill>
              <a:srgbClr val="BEA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548640"/>
            <a:ext cx="5303520" cy="566928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【角色立绘】</a:t>
            </a:r>
            <a:br/>
            <a:r>
              <a:t>替换为你的作品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286000"/>
            <a:ext cx="1280160" cy="292608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520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正面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286000"/>
            <a:ext cx="1280160" cy="292608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520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侧面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2286000"/>
            <a:ext cx="1280160" cy="292608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3520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303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C877D"/>
                </a:solidFill>
                <a:latin typeface="Microsoft YaHei"/>
              </a:defRPr>
            </a:pPr>
            <a:r>
              <a:t>正面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303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C877D"/>
                </a:solidFill>
                <a:latin typeface="Microsoft YaHei"/>
              </a:defRPr>
            </a:pPr>
            <a:r>
              <a:t>侧面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3035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C877D"/>
                </a:solidFill>
                <a:latin typeface="Microsoft YaHei"/>
              </a:defRPr>
            </a:pPr>
            <a:r>
              <a:t>背面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5778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F8278"/>
                </a:solidFill>
                <a:latin typeface="Microsoft YaHei"/>
              </a:defRPr>
            </a:pPr>
            <a:r>
              <a:t>角色背景 / 设计理念</a:t>
            </a:r>
          </a:p>
          <a:p>
            <a:pPr>
              <a:defRPr sz="1000">
                <a:solidFill>
                  <a:srgbClr val="8C877D"/>
                </a:solidFill>
                <a:latin typeface="Microsoft YaHei"/>
              </a:defRPr>
            </a:pPr>
          </a:p>
          <a:p>
            <a:pPr>
              <a:defRPr sz="1000">
                <a:solidFill>
                  <a:srgbClr val="8C877D"/>
                </a:solidFill>
                <a:latin typeface="Microsoft YaHei"/>
              </a:defRPr>
            </a:pPr>
            <a:r>
              <a:t>在此处填写角色的详细信息，包括性格特点、</a:t>
            </a:r>
          </a:p>
          <a:p>
            <a:pPr>
              <a:defRPr sz="1000">
                <a:solidFill>
                  <a:srgbClr val="8C877D"/>
                </a:solidFill>
                <a:latin typeface="Microsoft YaHei"/>
              </a:defRPr>
            </a:pPr>
            <a:r>
              <a:t>背景故事、以及在游戏中的定位...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77D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10800000">
            <a:off x="8686800" y="4572000"/>
            <a:ext cx="2084832" cy="182880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11700000">
            <a:off x="9729216" y="4800600"/>
            <a:ext cx="1737360" cy="137160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46464B"/>
                </a:solidFill>
                <a:latin typeface="STSong"/>
              </a:defRPr>
            </a:pPr>
            <a:r>
              <a:t>角色名称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D91A0"/>
                </a:solidFill>
                <a:latin typeface="Microsoft YaHei"/>
              </a:defRPr>
            </a:pPr>
            <a:r>
              <a:t>表情与动作设计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554480"/>
            <a:ext cx="1737360" cy="0"/>
          </a:xfrm>
          <a:prstGeom prst="line">
            <a:avLst/>
          </a:prstGeom>
          <a:ln w="9525">
            <a:solidFill>
              <a:srgbClr val="BEA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1920240"/>
            <a:ext cx="2103120" cy="192024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表情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920240"/>
            <a:ext cx="2103120" cy="192024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6517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表情 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920240"/>
            <a:ext cx="2103120" cy="192024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表情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2103120" cy="192024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动作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4114800"/>
            <a:ext cx="2103120" cy="192024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846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动作 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114800"/>
            <a:ext cx="2103120" cy="192024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846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动作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9202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F8278"/>
                </a:solidFill>
                <a:latin typeface="Microsoft YaHei"/>
              </a:defRPr>
            </a:pPr>
            <a:r>
              <a:t>设计说明</a:t>
            </a:r>
          </a:p>
          <a:p>
            <a:pPr>
              <a:defRPr sz="10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在此处详细描述角色的表情变化、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动作设计思路、以及动画表现要点。</a:t>
            </a:r>
          </a:p>
          <a:p>
            <a:pPr>
              <a:defRPr sz="12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400" b="1">
                <a:solidFill>
                  <a:srgbClr val="AF8278"/>
                </a:solidFill>
                <a:latin typeface="Microsoft YaHei"/>
              </a:defRPr>
            </a:pPr>
            <a:r>
              <a:t>关键词</a:t>
            </a:r>
          </a:p>
          <a:p>
            <a:pPr>
              <a:defRPr sz="8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表情丰富度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动作流畅性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性格体现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视觉识别度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77D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731520"/>
            <a:ext cx="5486400" cy="402336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4114800" y="1234440"/>
            <a:ext cx="4572000" cy="30175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600000">
            <a:off x="1828800" y="1097280"/>
            <a:ext cx="4389120" cy="329184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500000">
            <a:off x="4023360" y="1508760"/>
            <a:ext cx="3657600" cy="246888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>
                <a:solidFill>
                  <a:srgbClr val="FAF8F4"/>
                </a:solidFill>
                <a:latin typeface="STSong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46464B"/>
                </a:solidFill>
                <a:latin typeface="STSong"/>
              </a:defRPr>
            </a:pPr>
            <a:r>
              <a:t>概念设计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59173"/>
                </a:solidFill>
                <a:latin typeface="Microsoft YaHei"/>
              </a:defRPr>
            </a:pPr>
            <a:r>
              <a:t>CHAPTER</a:t>
            </a:r>
          </a:p>
        </p:txBody>
      </p:sp>
      <p:sp>
        <p:nvSpPr>
          <p:cNvPr id="10" name="Hexagon 9"/>
          <p:cNvSpPr/>
          <p:nvPr/>
        </p:nvSpPr>
        <p:spPr>
          <a:xfrm>
            <a:off x="731520" y="548640"/>
            <a:ext cx="822960" cy="715975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789920" y="5669280"/>
            <a:ext cx="822960" cy="715975"/>
          </a:xfrm>
          <a:prstGeom prst="hexagon">
            <a:avLst/>
          </a:prstGeom>
          <a:noFill/>
          <a:ln w="25400">
            <a:solidFill>
              <a:srgbClr val="879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920240" cy="146304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960120" y="182880"/>
            <a:ext cx="1600200" cy="109728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46464B"/>
                </a:solidFill>
                <a:latin typeface="STSong"/>
              </a:defRPr>
            </a:pPr>
            <a:r>
              <a:t>场景概念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79B8C"/>
                </a:solidFill>
                <a:latin typeface="Microsoft YaHei"/>
              </a:defRPr>
            </a:pPr>
            <a:r>
              <a:t>Environment Concept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554480"/>
            <a:ext cx="1737360" cy="0"/>
          </a:xfrm>
          <a:prstGeom prst="line">
            <a:avLst/>
          </a:prstGeom>
          <a:ln w="9525">
            <a:solidFill>
              <a:srgbClr val="BEA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192024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92024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38912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2578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F8278"/>
                </a:solidFill>
                <a:latin typeface="Microsoft YaHei"/>
              </a:defRPr>
            </a:pPr>
            <a:r>
              <a:t>设计理念</a:t>
            </a:r>
          </a:p>
          <a:p>
            <a:pPr>
              <a:defRPr sz="10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在此处填写概念设计的核心思路和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创意来源，包括参考素材、文化背景等。</a:t>
            </a:r>
          </a:p>
          <a:p>
            <a:pPr>
              <a:defRPr sz="12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400" b="1">
                <a:solidFill>
                  <a:srgbClr val="AF8278"/>
                </a:solidFill>
                <a:latin typeface="Microsoft YaHei"/>
              </a:defRPr>
            </a:pPr>
            <a:r>
              <a:t>关键词</a:t>
            </a:r>
          </a:p>
          <a:p>
            <a:pPr>
              <a:defRPr sz="8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东方美学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现代融合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功能性与美观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世界观契合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77D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920240" cy="146304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960120" y="182880"/>
            <a:ext cx="1600200" cy="109728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46464B"/>
                </a:solidFill>
                <a:latin typeface="STSong"/>
              </a:defRPr>
            </a:pPr>
            <a:r>
              <a:t>道具设计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79B8C"/>
                </a:solidFill>
                <a:latin typeface="Microsoft YaHei"/>
              </a:defRPr>
            </a:pPr>
            <a:r>
              <a:t>Prop Design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554480"/>
            <a:ext cx="1737360" cy="0"/>
          </a:xfrm>
          <a:prstGeom prst="line">
            <a:avLst/>
          </a:prstGeom>
          <a:ln w="9525">
            <a:solidFill>
              <a:srgbClr val="BEA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192024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92024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389120"/>
            <a:ext cx="3931920" cy="2194560"/>
          </a:xfrm>
          <a:prstGeom prst="rect">
            <a:avLst/>
          </a:prstGeom>
          <a:solidFill>
            <a:srgbClr val="FAF8F4"/>
          </a:solidFill>
          <a:ln w="31750">
            <a:solidFill>
              <a:srgbClr val="879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2578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C877D"/>
                </a:solidFill>
                <a:latin typeface="Microsoft YaHei"/>
              </a:defRPr>
            </a:pPr>
            <a:r>
              <a:t>设计稿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F8278"/>
                </a:solidFill>
                <a:latin typeface="Microsoft YaHei"/>
              </a:defRPr>
            </a:pPr>
            <a:r>
              <a:t>设计理念</a:t>
            </a:r>
          </a:p>
          <a:p>
            <a:pPr>
              <a:defRPr sz="10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在此处填写概念设计的核心思路和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创意来源，包括参考素材、文化背景等。</a:t>
            </a:r>
          </a:p>
          <a:p>
            <a:pPr>
              <a:defRPr sz="12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400" b="1">
                <a:solidFill>
                  <a:srgbClr val="AF8278"/>
                </a:solidFill>
                <a:latin typeface="Microsoft YaHei"/>
              </a:defRPr>
            </a:pPr>
            <a:r>
              <a:t>关键词</a:t>
            </a:r>
          </a:p>
          <a:p>
            <a:pPr>
              <a:defRPr sz="8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东方美学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现代融合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功能性与美观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世界观契合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77D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2194560" cy="219456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1097280" y="274320"/>
            <a:ext cx="1828800" cy="16459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46464B"/>
                </a:solidFill>
                <a:latin typeface="STSong"/>
              </a:defRPr>
            </a:pPr>
            <a:r>
              <a:t>创作灵感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5603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BEA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2286000" cy="2286000"/>
          </a:xfrm>
          <a:prstGeom prst="rect">
            <a:avLst/>
          </a:prstGeom>
          <a:solidFill>
            <a:srgbClr val="FAF8F4"/>
          </a:solidFill>
          <a:ln w="12700">
            <a:solidFill>
              <a:srgbClr val="8C877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877D"/>
                </a:solidFill>
                <a:latin typeface="Microsoft YaHei"/>
              </a:defRPr>
            </a:pPr>
            <a:r>
              <a:t>参考素材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5603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BEA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600200"/>
            <a:ext cx="2286000" cy="2286000"/>
          </a:xfrm>
          <a:prstGeom prst="rect">
            <a:avLst/>
          </a:prstGeom>
          <a:solidFill>
            <a:srgbClr val="FAF8F4"/>
          </a:solidFill>
          <a:ln w="12700">
            <a:solidFill>
              <a:srgbClr val="8C877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977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877D"/>
                </a:solidFill>
                <a:latin typeface="Microsoft YaHei"/>
              </a:defRPr>
            </a:pPr>
            <a:r>
              <a:t>参考素材 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5603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BEA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2286000" cy="2286000"/>
          </a:xfrm>
          <a:prstGeom prst="rect">
            <a:avLst/>
          </a:prstGeom>
          <a:solidFill>
            <a:srgbClr val="FAF8F4"/>
          </a:solidFill>
          <a:ln w="12700">
            <a:solidFill>
              <a:srgbClr val="8C877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776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877D"/>
                </a:solidFill>
                <a:latin typeface="Microsoft YaHei"/>
              </a:defRPr>
            </a:pPr>
            <a:r>
              <a:t>参考素材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4630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F8278"/>
                </a:solidFill>
                <a:latin typeface="Microsoft YaHei"/>
              </a:defRPr>
            </a:pPr>
            <a:r>
              <a:t>灵感来源</a:t>
            </a:r>
          </a:p>
          <a:p>
            <a:pPr>
              <a:defRPr sz="10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在此处记录创作过程中的灵感来源、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参考的文化元素、艺术作品、以及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任何激发创意的素材。</a:t>
            </a:r>
          </a:p>
          <a:p>
            <a:pPr>
              <a:defRPr sz="12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400" b="1">
                <a:solidFill>
                  <a:srgbClr val="AF8278"/>
                </a:solidFill>
                <a:latin typeface="Microsoft YaHei"/>
              </a:defRPr>
            </a:pPr>
            <a:r>
              <a:t>关键词</a:t>
            </a:r>
          </a:p>
          <a:p>
            <a:pPr>
              <a:defRPr sz="800">
                <a:solidFill>
                  <a:srgbClr val="373737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传统文化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现代演绎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视觉叙事</a:t>
            </a:r>
          </a:p>
          <a:p>
            <a:pPr>
              <a:defRPr sz="1100">
                <a:solidFill>
                  <a:srgbClr val="373737"/>
                </a:solidFill>
                <a:latin typeface="Microsoft YaHei"/>
              </a:defRPr>
            </a:pPr>
            <a:r>
              <a:t>• 情感表达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77D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2743200" cy="25603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1371600" y="320040"/>
            <a:ext cx="2286000" cy="192024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0800000">
            <a:off x="8229600" y="4114800"/>
            <a:ext cx="2468880" cy="219456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1700000">
            <a:off x="9464040" y="4389120"/>
            <a:ext cx="2057400" cy="1645920"/>
          </a:xfrm>
          <a:prstGeom prst="ellipse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46464B"/>
                </a:solidFill>
                <a:latin typeface="STSong"/>
              </a:defRPr>
            </a:pPr>
            <a:r>
              <a:t>感谢观看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F8278"/>
                </a:solidFill>
                <a:latin typeface="Microsoft YaHei"/>
              </a:defRPr>
            </a:pPr>
            <a:r>
              <a:t>联系方式</a:t>
            </a:r>
          </a:p>
          <a:p>
            <a:pPr algn="ctr">
              <a:defRPr sz="800">
                <a:solidFill>
                  <a:srgbClr val="373737"/>
                </a:solidFill>
                <a:latin typeface="Microsoft YaHei"/>
              </a:defRPr>
            </a:pPr>
          </a:p>
          <a:p>
            <a:pPr algn="ctr">
              <a:defRPr sz="1200">
                <a:solidFill>
                  <a:srgbClr val="373737"/>
                </a:solidFill>
                <a:latin typeface="Microsoft YaHei"/>
              </a:defRPr>
            </a:pPr>
            <a:r>
              <a:t>📧 Email: your.email@example.com</a:t>
            </a:r>
          </a:p>
          <a:p>
            <a:pPr algn="ctr">
              <a:defRPr sz="1200">
                <a:solidFill>
                  <a:srgbClr val="373737"/>
                </a:solidFill>
                <a:latin typeface="Microsoft YaHei"/>
              </a:defRPr>
            </a:pPr>
            <a:r>
              <a:t>📱 微信：your_wechat</a:t>
            </a:r>
          </a:p>
          <a:p>
            <a:pPr algn="ctr">
              <a:defRPr sz="1200">
                <a:solidFill>
                  <a:srgbClr val="373737"/>
                </a:solidFill>
                <a:latin typeface="Microsoft YaHei"/>
              </a:defRPr>
            </a:pPr>
            <a:r>
              <a:t>💼 作品集：your-portfolio.com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5669280"/>
            <a:ext cx="5029200" cy="0"/>
          </a:xfrm>
          <a:prstGeom prst="line">
            <a:avLst/>
          </a:prstGeom>
          <a:ln w="9525">
            <a:solidFill>
              <a:srgbClr val="BEA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